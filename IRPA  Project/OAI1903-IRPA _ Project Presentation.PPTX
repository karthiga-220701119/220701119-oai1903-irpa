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1"/>
  </p:notesMasterIdLst>
  <p:handoutMasterIdLst>
    <p:handoutMasterId r:id="rId22"/>
  </p:handoutMasterIdLst>
  <p:sldIdLst>
    <p:sldId id="280" r:id="rId2"/>
    <p:sldId id="366" r:id="rId3"/>
    <p:sldId id="380" r:id="rId4"/>
    <p:sldId id="383" r:id="rId5"/>
    <p:sldId id="384" r:id="rId6"/>
    <p:sldId id="385" r:id="rId7"/>
    <p:sldId id="386" r:id="rId8"/>
    <p:sldId id="387" r:id="rId9"/>
    <p:sldId id="389" r:id="rId10"/>
    <p:sldId id="390" r:id="rId11"/>
    <p:sldId id="391" r:id="rId12"/>
    <p:sldId id="400" r:id="rId13"/>
    <p:sldId id="401" r:id="rId14"/>
    <p:sldId id="402" r:id="rId15"/>
    <p:sldId id="403" r:id="rId16"/>
    <p:sldId id="393" r:id="rId17"/>
    <p:sldId id="394" r:id="rId18"/>
    <p:sldId id="395" r:id="rId19"/>
    <p:sldId id="281"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80" d="100"/>
          <a:sy n="80" d="100"/>
        </p:scale>
        <p:origin x="1637"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11/21/2024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11/21/2024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76AE1-88B8-8E58-9A2B-207F1281E4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DCD00B-75D5-0075-848E-4A7451BFF7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2AFCFF0-14F8-0392-7EFC-916D92396A37}"/>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1C66C75-78D8-E70F-C750-FDA187A9437A}"/>
              </a:ext>
            </a:extLst>
          </p:cNvPr>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7601246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FD8430-ABF4-143F-20B6-AD047B170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AB8F74-7004-CB72-CA57-C7BDB42DB0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FB3020-0F31-C575-1AC1-57778F0FCAD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C68E09C-8765-0CED-76CD-1FAC05D27356}"/>
              </a:ext>
            </a:extLst>
          </p:cNvPr>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3422837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664DDF-F1AF-B602-78E8-B667AA44A6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C21E3-1C0A-AD09-B006-3257266542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AECB9-EB15-E5B7-BEA5-46E504EAADD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C5531AA7-2779-53EB-2481-9C60F08BF10B}"/>
              </a:ext>
            </a:extLst>
          </p:cNvPr>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1902252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1D7D1D-D03C-53B4-7072-1226A59BB3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094F85-45DC-6BAA-9C26-5F6AB9B1A3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488E2A-BB65-42FE-174F-F6D2401D656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B3F25492-3ED1-287B-9C69-929AE839A7B7}"/>
              </a:ext>
            </a:extLst>
          </p:cNvPr>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9642371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 Id="rId4" Type="http://schemas.openxmlformats.org/officeDocument/2006/relationships/image" Target="../media/image4.jp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 Id="rId5" Type="http://schemas.openxmlformats.org/officeDocument/2006/relationships/image" Target="../media/image11.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 Id="rId5" Type="http://schemas.openxmlformats.org/officeDocument/2006/relationships/hyperlink" Target="https://docs.uipath.com/" TargetMode="External"/><Relationship Id="rId4" Type="http://schemas.openxmlformats.org/officeDocument/2006/relationships/hyperlink" Target="https://forum.uipath.com/"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986564"/>
            <a:ext cx="9158748" cy="5456757"/>
            <a:chOff x="-14748" y="986564"/>
            <a:chExt cx="9158748" cy="5456757"/>
          </a:xfrm>
        </p:grpSpPr>
        <p:sp>
          <p:nvSpPr>
            <p:cNvPr id="22" name="TextBox 21"/>
            <p:cNvSpPr txBox="1"/>
            <p:nvPr/>
          </p:nvSpPr>
          <p:spPr>
            <a:xfrm>
              <a:off x="177781" y="4812105"/>
              <a:ext cx="5566196" cy="1631216"/>
            </a:xfrm>
            <a:prstGeom prst="rect">
              <a:avLst/>
            </a:prstGeom>
            <a:noFill/>
          </p:spPr>
          <p:txBody>
            <a:bodyPr wrap="square" rtlCol="0">
              <a:spAutoFit/>
            </a:bodyPr>
            <a:lstStyle/>
            <a:p>
              <a:r>
                <a:rPr lang="en-US" sz="2000" b="1" dirty="0"/>
                <a:t>Your Register No                       : 220701119</a:t>
              </a:r>
            </a:p>
            <a:p>
              <a:r>
                <a:rPr lang="en-US" sz="2000" b="1" dirty="0"/>
                <a:t>Name                                           : </a:t>
              </a:r>
              <a:r>
                <a:rPr lang="en-US" sz="2000" b="1" dirty="0" err="1"/>
                <a:t>Karthiga</a:t>
              </a:r>
              <a:r>
                <a:rPr lang="en-US" sz="2000" b="1" dirty="0"/>
                <a:t> R</a:t>
              </a:r>
            </a:p>
            <a:p>
              <a:r>
                <a:rPr lang="en-US" sz="2000" b="1" dirty="0"/>
                <a:t>Guide Name                               : Mrs. J. Jinu Sophia </a:t>
              </a:r>
            </a:p>
            <a:p>
              <a:r>
                <a:rPr lang="en-US" sz="2000" b="1" dirty="0"/>
                <a:t>Designation and Department : Assistant   </a:t>
              </a:r>
            </a:p>
            <a:p>
              <a:r>
                <a:rPr lang="en-US" sz="2000" b="1" dirty="0"/>
                <a:t>                                                        Professor (SG)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177781" y="2421278"/>
                <a:ext cx="5294318" cy="1938992"/>
              </a:xfrm>
              <a:prstGeom prst="rect">
                <a:avLst/>
              </a:prstGeom>
              <a:noFill/>
            </p:spPr>
            <p:txBody>
              <a:bodyPr wrap="square" rtlCol="0">
                <a:spAutoFit/>
              </a:bodyPr>
              <a:lstStyle/>
              <a:p>
                <a:r>
                  <a:rPr lang="en-US" sz="4000" b="1" dirty="0">
                    <a:solidFill>
                      <a:schemeClr val="bg1"/>
                    </a:solidFill>
                    <a:ea typeface="Open Sans Bold" panose="020B0806030504020204" pitchFamily="34" charset="0"/>
                    <a:cs typeface="Open Sans Bold" panose="020B0806030504020204" pitchFamily="34" charset="0"/>
                  </a:rPr>
                  <a:t>Internship and Scholarship application Tracker</a:t>
                </a: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a:xfrm>
            <a:off x="467544" y="1268760"/>
            <a:ext cx="8244916" cy="5334000"/>
          </a:xfrm>
        </p:spPr>
        <p:txBody>
          <a:bodyPr/>
          <a:lstStyle/>
          <a:p>
            <a:pPr algn="just"/>
            <a:r>
              <a:rPr lang="en-US" dirty="0"/>
              <a:t>The </a:t>
            </a:r>
            <a:r>
              <a:rPr lang="en-US" b="1" dirty="0"/>
              <a:t>Scholarship and Internship Application Tracker</a:t>
            </a:r>
            <a:r>
              <a:rPr lang="en-US" dirty="0"/>
              <a:t> -solution that automates the management of scholarship and internship opportunities. Using UiPath, the system extracts details such as titles, deadlines, and qualifications from online sources, stores them in Excel, and calculates time remaining for deadlines. It sends automated email reminders for approaching deadlines, ensuring timely action. This project simplifies application tracking, reduces manual effort, and enhances efficiency in managing career opportunities.</a:t>
            </a:r>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p:txBody>
          <a:bodyPr/>
          <a:lstStyle/>
          <a:p>
            <a:r>
              <a:rPr lang="en-US" dirty="0"/>
              <a:t>Managing scholarship and internship applications can be a time-consuming and error-prone process, especially when dealing with multiple opportunities and strict deadlines. The proposed these challenges by automating the following tasks:</a:t>
            </a:r>
          </a:p>
          <a:p>
            <a:pPr lvl="3"/>
            <a:r>
              <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rPr>
              <a:t>Efficient Data Management</a:t>
            </a:r>
          </a:p>
          <a:p>
            <a:pPr lvl="3"/>
            <a:r>
              <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rPr>
              <a:t>Timely Reminders</a:t>
            </a:r>
          </a:p>
          <a:p>
            <a:pPr lvl="3"/>
            <a:r>
              <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rPr>
              <a:t>Centralized Tracking</a:t>
            </a:r>
          </a:p>
          <a:p>
            <a:pPr lvl="3"/>
            <a:r>
              <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rPr>
              <a:t>Error Reduction</a:t>
            </a:r>
          </a:p>
          <a:p>
            <a:pPr lvl="3"/>
            <a:r>
              <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rPr>
              <a:t>Improved Productivity</a:t>
            </a:r>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p:txBody>
          <a:bodyPr>
            <a:normAutofit/>
          </a:bodyPr>
          <a:lstStyle/>
          <a:p>
            <a:pPr marL="0" indent="0">
              <a:lnSpc>
                <a:spcPct val="100000"/>
              </a:lnSpc>
              <a:buNone/>
            </a:pPr>
            <a:r>
              <a:rPr lang="en-US" dirty="0"/>
              <a:t>	</a:t>
            </a:r>
          </a:p>
          <a:p>
            <a:pPr marL="0" indent="0">
              <a:lnSpc>
                <a:spcPct val="100000"/>
              </a:lnSpc>
              <a:buNone/>
            </a:pPr>
            <a:endParaRPr lang="en-US" dirty="0"/>
          </a:p>
          <a:p>
            <a:pPr lvl="4">
              <a:lnSpc>
                <a:spcPct val="100000"/>
              </a:lnSpc>
              <a:buFont typeface="Wingdings" panose="05000000000000000000" pitchFamily="2" charset="2"/>
              <a:buChar char="v"/>
            </a:pPr>
            <a:r>
              <a:rPr lang="en-US" sz="2800" dirty="0"/>
              <a:t>  Automation of Repetitive Tasks</a:t>
            </a:r>
          </a:p>
          <a:p>
            <a:pPr lvl="4">
              <a:lnSpc>
                <a:spcPct val="100000"/>
              </a:lnSpc>
              <a:buFont typeface="Wingdings" panose="05000000000000000000" pitchFamily="2" charset="2"/>
              <a:buChar char="v"/>
            </a:pPr>
            <a:r>
              <a:rPr lang="en-US" sz="2800" dirty="0"/>
              <a:t>  Time Efficiency</a:t>
            </a:r>
          </a:p>
          <a:p>
            <a:pPr lvl="4">
              <a:lnSpc>
                <a:spcPct val="100000"/>
              </a:lnSpc>
              <a:buFont typeface="Wingdings" panose="05000000000000000000" pitchFamily="2" charset="2"/>
              <a:buChar char="v"/>
            </a:pPr>
            <a:r>
              <a:rPr lang="en-US" sz="2800" dirty="0"/>
              <a:t>  Accurate Deadline Management</a:t>
            </a:r>
          </a:p>
          <a:p>
            <a:pPr lvl="4">
              <a:lnSpc>
                <a:spcPct val="100000"/>
              </a:lnSpc>
              <a:buFont typeface="Wingdings" panose="05000000000000000000" pitchFamily="2" charset="2"/>
              <a:buChar char="v"/>
            </a:pPr>
            <a:r>
              <a:rPr lang="en-US" sz="2800" dirty="0"/>
              <a:t>  Improved Productivity</a:t>
            </a:r>
          </a:p>
          <a:p>
            <a:pPr lvl="4">
              <a:lnSpc>
                <a:spcPct val="100000"/>
              </a:lnSpc>
              <a:buFont typeface="Wingdings" panose="05000000000000000000" pitchFamily="2" charset="2"/>
              <a:buChar char="v"/>
            </a:pPr>
            <a:r>
              <a:rPr kumimoji="0" lang="en-US" altLang="en-US" sz="2800" i="0" u="none" strike="noStrike" cap="none" normalizeH="0" baseline="0" dirty="0">
                <a:ln>
                  <a:noFill/>
                </a:ln>
                <a:solidFill>
                  <a:schemeClr val="tx1"/>
                </a:solidFill>
                <a:effectLst/>
                <a:latin typeface="Arial" panose="020B0604020202020204" pitchFamily="34" charset="0"/>
              </a:rPr>
              <a:t>  Scalability</a:t>
            </a:r>
          </a:p>
          <a:p>
            <a:pPr marL="0" indent="0" algn="just">
              <a:lnSpc>
                <a:spcPct val="100000"/>
              </a:lnSpc>
              <a:buNone/>
            </a:pPr>
            <a:r>
              <a:rPr lang="en-US" sz="1600" dirty="0"/>
              <a:t>	</a:t>
            </a: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p:txBody>
          <a:bodyPr>
            <a:normAutofit fontScale="85000" lnSpcReduction="20000"/>
          </a:bodyPr>
          <a:lstStyle/>
          <a:p>
            <a:r>
              <a:rPr lang="en-US" sz="2200" b="1" dirty="0"/>
              <a:t>Paper 1: "RPA for Streamlining Application Tracking Systems"</a:t>
            </a:r>
          </a:p>
          <a:p>
            <a:pPr marL="0" indent="0">
              <a:buNone/>
            </a:pPr>
            <a:r>
              <a:rPr lang="en-US" sz="1500" b="1" dirty="0"/>
              <a:t>	</a:t>
            </a:r>
          </a:p>
          <a:p>
            <a:pPr marL="0" indent="0">
              <a:buNone/>
            </a:pPr>
            <a:r>
              <a:rPr lang="en-US" sz="1700" b="1" dirty="0"/>
              <a:t>	- Advantages:</a:t>
            </a:r>
            <a:endParaRPr lang="en-US" sz="1700" dirty="0"/>
          </a:p>
          <a:p>
            <a:pPr marL="0" indent="0">
              <a:buNone/>
            </a:pPr>
            <a:r>
              <a:rPr lang="en-US" sz="1500" dirty="0"/>
              <a:t>	           Demonstrates how RPA can automate data collection and management tasks, significantly reducing 	            	            manual effort . Provides a robust framework for integrating email notifications for reminders.</a:t>
            </a:r>
          </a:p>
          <a:p>
            <a:pPr marL="0" indent="0">
              <a:buNone/>
            </a:pPr>
            <a:r>
              <a:rPr lang="en-US" sz="1500" dirty="0"/>
              <a:t>                                    Improves process accuracy and efficiency in managing deadlines and applications.</a:t>
            </a:r>
          </a:p>
          <a:p>
            <a:pPr marL="0" indent="0">
              <a:buNone/>
            </a:pPr>
            <a:r>
              <a:rPr lang="en-US" sz="1500" b="1" dirty="0"/>
              <a:t> 	</a:t>
            </a:r>
            <a:r>
              <a:rPr lang="en-US" sz="1700" b="1" dirty="0"/>
              <a:t>- Disadvantages:</a:t>
            </a:r>
            <a:endParaRPr lang="en-US" sz="1700" dirty="0"/>
          </a:p>
          <a:p>
            <a:pPr marL="0" indent="0">
              <a:buNone/>
            </a:pPr>
            <a:r>
              <a:rPr lang="en-US" sz="1500" dirty="0"/>
              <a:t>	           Limited to structured data sources, making it less effective for extracting information from 		            unstructured content.</a:t>
            </a:r>
          </a:p>
          <a:p>
            <a:pPr marL="0" indent="0">
              <a:buNone/>
            </a:pPr>
            <a:r>
              <a:rPr lang="en-US" sz="1500" dirty="0"/>
              <a:t>	           High initial setup time for configuring workflows and integrating with various platforms.</a:t>
            </a:r>
          </a:p>
          <a:p>
            <a:endParaRPr lang="en-US" sz="1500" dirty="0"/>
          </a:p>
          <a:p>
            <a:r>
              <a:rPr lang="en-US" sz="2200" b="1" dirty="0"/>
              <a:t>Paper 2: "Automation in Educational and Career Planning Using RPA"</a:t>
            </a:r>
          </a:p>
          <a:p>
            <a:pPr marL="0" indent="0">
              <a:buNone/>
            </a:pPr>
            <a:r>
              <a:rPr lang="en-US" sz="1700" b="1" dirty="0"/>
              <a:t>	</a:t>
            </a:r>
          </a:p>
          <a:p>
            <a:pPr marL="0" indent="0">
              <a:buNone/>
            </a:pPr>
            <a:r>
              <a:rPr lang="en-US" sz="1700" b="1" dirty="0"/>
              <a:t>	- Advantages:</a:t>
            </a:r>
            <a:endParaRPr lang="en-US" sz="1700" dirty="0"/>
          </a:p>
          <a:p>
            <a:pPr marL="0" indent="0">
              <a:buNone/>
            </a:pPr>
            <a:r>
              <a:rPr lang="en-US" sz="1500" dirty="0"/>
              <a:t>	          Highlights the potential of RPA in career planning, including scholarship and internship management.</a:t>
            </a:r>
          </a:p>
          <a:p>
            <a:pPr marL="0" indent="0">
              <a:buNone/>
            </a:pPr>
            <a:r>
              <a:rPr lang="en-US" sz="1500" dirty="0"/>
              <a:t>	          Supports scalability to handle multiple opportunities across different platforms.</a:t>
            </a:r>
          </a:p>
          <a:p>
            <a:pPr marL="0" indent="0">
              <a:buNone/>
            </a:pPr>
            <a:r>
              <a:rPr lang="en-US" sz="1500" dirty="0"/>
              <a:t>	          Demonstrates cost-effectiveness by reducing reliance on manual labor for repetitive tasks.</a:t>
            </a:r>
          </a:p>
          <a:p>
            <a:pPr marL="0" indent="0">
              <a:buNone/>
            </a:pPr>
            <a:r>
              <a:rPr lang="en-US" sz="1700" b="1" dirty="0"/>
              <a:t>	- Disadvantages:</a:t>
            </a:r>
            <a:endParaRPr lang="en-US" sz="1700" dirty="0"/>
          </a:p>
          <a:p>
            <a:pPr marL="0" indent="0">
              <a:buNone/>
            </a:pPr>
            <a:r>
              <a:rPr lang="en-US" sz="1500" dirty="0"/>
              <a:t>	          Requires technical expertise to design and implement workflows, which may limit adoption among non-	         technical users.</a:t>
            </a:r>
          </a:p>
          <a:p>
            <a:pPr marL="0" indent="0">
              <a:buNone/>
            </a:pPr>
            <a:r>
              <a:rPr lang="en-US" sz="1500" dirty="0"/>
              <a:t>	          Dependency on third-party tools or APIs, such as email or data scraping, which can introduce additional 	          challenges in  integration.</a:t>
            </a:r>
          </a:p>
          <a:p>
            <a:endParaRPr lang="en-US" sz="1200"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a:xfrm>
            <a:off x="683568" y="1304764"/>
            <a:ext cx="8136904" cy="5334000"/>
          </a:xfrm>
        </p:spPr>
        <p:txBody>
          <a:bodyPr>
            <a:normAutofit/>
          </a:bodyPr>
          <a:lstStyle/>
          <a:p>
            <a:pPr algn="just"/>
            <a:r>
              <a:rPr lang="en-US" sz="2000" dirty="0"/>
              <a:t>The primary objective of the Scholarship and Internship Application Tracker is to automate the process of managing, tracking, and organizing scholarship and internship opportunities. This includes:</a:t>
            </a:r>
          </a:p>
          <a:p>
            <a:pPr marL="1371600" lvl="3" indent="0">
              <a:buNone/>
            </a:pPr>
            <a:endParaRPr lang="en-US" sz="2000" dirty="0"/>
          </a:p>
          <a:p>
            <a:pPr lvl="3"/>
            <a:r>
              <a:rPr lang="en-US" sz="2000" dirty="0"/>
              <a:t>Efficient Data Extraction</a:t>
            </a:r>
          </a:p>
          <a:p>
            <a:pPr lvl="3"/>
            <a:r>
              <a:rPr lang="en-US" sz="2000" dirty="0"/>
              <a:t>Deadline Tracking and Notifications</a:t>
            </a:r>
          </a:p>
          <a:p>
            <a:pPr lvl="3"/>
            <a:r>
              <a:rPr lang="en-US" sz="2000" dirty="0"/>
              <a:t>Streamlined Application Management</a:t>
            </a:r>
          </a:p>
          <a:p>
            <a:pPr lvl="3"/>
            <a:r>
              <a:rPr lang="en-US" sz="2000" dirty="0"/>
              <a:t>Enhanced Productivity</a:t>
            </a:r>
          </a:p>
          <a:p>
            <a:pPr marL="1371600" lvl="3" indent="0">
              <a:buNone/>
            </a:pPr>
            <a:endParaRPr lang="en-US" sz="1800"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5" name="Content Placeholder 4">
            <a:extLst>
              <a:ext uri="{FF2B5EF4-FFF2-40B4-BE49-F238E27FC236}">
                <a16:creationId xmlns:a16="http://schemas.microsoft.com/office/drawing/2014/main" id="{3DBCE104-69F3-5BBC-0E9E-3F284B50A2E9}"/>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90500" y="1268760"/>
            <a:ext cx="8665976" cy="4536504"/>
          </a:xfrm>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Software System Requirements</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r>
              <a:rPr lang="en-US" sz="3600" dirty="0"/>
              <a:t>                        </a:t>
            </a:r>
          </a:p>
        </p:txBody>
      </p:sp>
      <p:sp>
        <p:nvSpPr>
          <p:cNvPr id="5" name="TextBox 4">
            <a:extLst>
              <a:ext uri="{FF2B5EF4-FFF2-40B4-BE49-F238E27FC236}">
                <a16:creationId xmlns:a16="http://schemas.microsoft.com/office/drawing/2014/main" id="{12268E03-E941-CBB0-41B8-DE6010DB24B9}"/>
              </a:ext>
            </a:extLst>
          </p:cNvPr>
          <p:cNvSpPr txBox="1"/>
          <p:nvPr/>
        </p:nvSpPr>
        <p:spPr>
          <a:xfrm>
            <a:off x="0" y="990601"/>
            <a:ext cx="9144000" cy="4315027"/>
          </a:xfrm>
          <a:prstGeom prst="rect">
            <a:avLst/>
          </a:prstGeom>
          <a:noFill/>
        </p:spPr>
        <p:txBody>
          <a:bodyPr wrap="square">
            <a:spAutoFit/>
          </a:bodyPr>
          <a:lstStyle/>
          <a:p>
            <a:pPr lvl="2">
              <a:lnSpc>
                <a:spcPct val="200000"/>
              </a:lnSpc>
              <a:buFont typeface="Arial" panose="020B0604020202020204" pitchFamily="34" charset="0"/>
              <a:buChar char="•"/>
            </a:pPr>
            <a:r>
              <a:rPr lang="en-US" sz="2000" b="1" dirty="0"/>
              <a:t>Operating System:</a:t>
            </a:r>
            <a:r>
              <a:rPr lang="en-US" sz="2000" dirty="0"/>
              <a:t> Windows 10 or later</a:t>
            </a:r>
          </a:p>
          <a:p>
            <a:pPr lvl="2">
              <a:lnSpc>
                <a:spcPct val="200000"/>
              </a:lnSpc>
              <a:buFont typeface="Arial" panose="020B0604020202020204" pitchFamily="34" charset="0"/>
              <a:buChar char="•"/>
            </a:pPr>
            <a:r>
              <a:rPr lang="en-US" sz="2000" b="1" dirty="0"/>
              <a:t>RPA Tool:</a:t>
            </a:r>
            <a:r>
              <a:rPr lang="en-US" sz="2000" dirty="0"/>
              <a:t> UiPath Studio (Community or Enterprise Edition)</a:t>
            </a:r>
          </a:p>
          <a:p>
            <a:pPr lvl="2">
              <a:lnSpc>
                <a:spcPct val="200000"/>
              </a:lnSpc>
              <a:buFont typeface="Arial" panose="020B0604020202020204" pitchFamily="34" charset="0"/>
              <a:buChar char="•"/>
            </a:pPr>
            <a:r>
              <a:rPr lang="en-US" sz="2000" b="1" dirty="0"/>
              <a:t>Excel:</a:t>
            </a:r>
            <a:r>
              <a:rPr lang="en-US" sz="2000" dirty="0"/>
              <a:t> Microsoft Excel 2016 or later for data storage and processing</a:t>
            </a:r>
          </a:p>
          <a:p>
            <a:pPr lvl="2">
              <a:lnSpc>
                <a:spcPct val="200000"/>
              </a:lnSpc>
              <a:buFont typeface="Arial" panose="020B0604020202020204" pitchFamily="34" charset="0"/>
              <a:buChar char="•"/>
            </a:pPr>
            <a:r>
              <a:rPr lang="en-US" sz="2000" b="1" dirty="0"/>
              <a:t>Email Client:</a:t>
            </a:r>
            <a:r>
              <a:rPr lang="en-US" sz="2000" dirty="0"/>
              <a:t> SMTP-compatible email service (e.g., Gmail, Outlook)</a:t>
            </a:r>
          </a:p>
          <a:p>
            <a:pPr lvl="2">
              <a:lnSpc>
                <a:spcPct val="200000"/>
              </a:lnSpc>
              <a:buFont typeface="Arial" panose="020B0604020202020204" pitchFamily="34" charset="0"/>
              <a:buChar char="•"/>
            </a:pPr>
            <a:r>
              <a:rPr lang="en-US" sz="2000" b="1" dirty="0"/>
              <a:t>Browser:</a:t>
            </a:r>
            <a:r>
              <a:rPr lang="en-US" sz="2000" dirty="0"/>
              <a:t> Google Chrome or Mozilla Firefox with the UiPath extension 		    installed</a:t>
            </a:r>
          </a:p>
          <a:p>
            <a:pPr lvl="2">
              <a:lnSpc>
                <a:spcPct val="200000"/>
              </a:lnSpc>
              <a:buFont typeface="Arial" panose="020B0604020202020204" pitchFamily="34" charset="0"/>
              <a:buChar char="•"/>
            </a:pPr>
            <a:r>
              <a:rPr lang="en-US" sz="2000" b="1" dirty="0"/>
              <a:t>Programming Language Support:</a:t>
            </a:r>
            <a:r>
              <a:rPr lang="en-US" sz="2000" dirty="0"/>
              <a:t> .NET Framework for UiPath workflows</a:t>
            </a:r>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Entity Relationship Design</a:t>
            </a:r>
            <a:endParaRPr lang="en-IN" dirty="0">
              <a:latin typeface="+mj-lt"/>
            </a:endParaRPr>
          </a:p>
        </p:txBody>
      </p:sp>
      <p:pic>
        <p:nvPicPr>
          <p:cNvPr id="8" name="Content Placeholder 7">
            <a:extLst>
              <a:ext uri="{FF2B5EF4-FFF2-40B4-BE49-F238E27FC236}">
                <a16:creationId xmlns:a16="http://schemas.microsoft.com/office/drawing/2014/main" id="{6062D900-604F-3BFB-0764-DEC5087D470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90500" y="1232756"/>
            <a:ext cx="8763000" cy="4154093"/>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pic>
        <p:nvPicPr>
          <p:cNvPr id="4" name="Content Placeholder 3">
            <a:extLst>
              <a:ext uri="{FF2B5EF4-FFF2-40B4-BE49-F238E27FC236}">
                <a16:creationId xmlns:a16="http://schemas.microsoft.com/office/drawing/2014/main" id="{825A3DFA-C7EF-FFB0-D0F5-393A6B0D691B}"/>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647564" y="990600"/>
            <a:ext cx="7704856" cy="5334000"/>
          </a:xfrm>
          <a:prstGeom prst="rect">
            <a:avLst/>
          </a:prstGeom>
          <a:noFill/>
          <a:ln>
            <a:noFill/>
          </a:ln>
        </p:spPr>
      </p:pic>
    </p:spTree>
    <p:custDataLst>
      <p:tags r:id="rId1"/>
    </p:custDataLst>
    <p:extLst>
      <p:ext uri="{BB962C8B-B14F-4D97-AF65-F5344CB8AC3E}">
        <p14:creationId xmlns:p14="http://schemas.microsoft.com/office/powerpoint/2010/main" val="3023427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10" name="Content Placeholder 9">
            <a:extLst>
              <a:ext uri="{FF2B5EF4-FFF2-40B4-BE49-F238E27FC236}">
                <a16:creationId xmlns:a16="http://schemas.microsoft.com/office/drawing/2014/main" id="{168FACF9-D42B-09E6-59D0-B7173F6D912F}"/>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259632" y="2096852"/>
            <a:ext cx="6660739" cy="3092442"/>
          </a:xfrm>
          <a:prstGeom prst="rect">
            <a:avLst/>
          </a:prstGeom>
        </p:spPr>
      </p:pic>
      <p:sp>
        <p:nvSpPr>
          <p:cNvPr id="12" name="TextBox 11">
            <a:extLst>
              <a:ext uri="{FF2B5EF4-FFF2-40B4-BE49-F238E27FC236}">
                <a16:creationId xmlns:a16="http://schemas.microsoft.com/office/drawing/2014/main" id="{499E3737-06E3-7BCE-3918-E418E0B6D800}"/>
              </a:ext>
            </a:extLst>
          </p:cNvPr>
          <p:cNvSpPr txBox="1"/>
          <p:nvPr/>
        </p:nvSpPr>
        <p:spPr>
          <a:xfrm>
            <a:off x="575556" y="1207041"/>
            <a:ext cx="4643436" cy="461665"/>
          </a:xfrm>
          <a:prstGeom prst="rect">
            <a:avLst/>
          </a:prstGeom>
          <a:noFill/>
        </p:spPr>
        <p:txBody>
          <a:bodyPr wrap="square">
            <a:spAutoFit/>
          </a:bodyPr>
          <a:lstStyle/>
          <a:p>
            <a:r>
              <a:rPr lang="en-US" sz="2400" b="1" dirty="0"/>
              <a:t>a) Scholarship website:-</a:t>
            </a:r>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3E369-59C3-EF6C-7B92-011CA8BD1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2CFC4-24DE-25B2-8DF3-28D67D1D8B6A}"/>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12" name="TextBox 11">
            <a:extLst>
              <a:ext uri="{FF2B5EF4-FFF2-40B4-BE49-F238E27FC236}">
                <a16:creationId xmlns:a16="http://schemas.microsoft.com/office/drawing/2014/main" id="{9586C819-649F-4F45-F68B-3A2C13CA6A58}"/>
              </a:ext>
            </a:extLst>
          </p:cNvPr>
          <p:cNvSpPr txBox="1"/>
          <p:nvPr/>
        </p:nvSpPr>
        <p:spPr>
          <a:xfrm>
            <a:off x="575556" y="1376772"/>
            <a:ext cx="4643436" cy="461665"/>
          </a:xfrm>
          <a:prstGeom prst="rect">
            <a:avLst/>
          </a:prstGeom>
          <a:noFill/>
        </p:spPr>
        <p:txBody>
          <a:bodyPr wrap="square">
            <a:spAutoFit/>
          </a:bodyPr>
          <a:lstStyle/>
          <a:p>
            <a:r>
              <a:rPr lang="en-US" sz="2400" b="1" dirty="0"/>
              <a:t>b) Internship website:-</a:t>
            </a:r>
          </a:p>
        </p:txBody>
      </p:sp>
      <p:pic>
        <p:nvPicPr>
          <p:cNvPr id="5" name="Picture 4">
            <a:extLst>
              <a:ext uri="{FF2B5EF4-FFF2-40B4-BE49-F238E27FC236}">
                <a16:creationId xmlns:a16="http://schemas.microsoft.com/office/drawing/2014/main" id="{212452F3-BB54-DB99-0B57-4CDA8183CAE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3668" y="2132856"/>
            <a:ext cx="6408712" cy="3282343"/>
          </a:xfrm>
          <a:prstGeom prst="rect">
            <a:avLst/>
          </a:prstGeom>
        </p:spPr>
      </p:pic>
    </p:spTree>
    <p:custDataLst>
      <p:tags r:id="rId1"/>
    </p:custDataLst>
    <p:extLst>
      <p:ext uri="{BB962C8B-B14F-4D97-AF65-F5344CB8AC3E}">
        <p14:creationId xmlns:p14="http://schemas.microsoft.com/office/powerpoint/2010/main" val="8383051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D387E1-A16A-357F-D91F-EC64902064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190629-55E7-4AC5-5806-FBC88BDF297E}"/>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12" name="TextBox 11">
            <a:extLst>
              <a:ext uri="{FF2B5EF4-FFF2-40B4-BE49-F238E27FC236}">
                <a16:creationId xmlns:a16="http://schemas.microsoft.com/office/drawing/2014/main" id="{27A8F109-E45E-A1C6-77AF-9A1C344F0DD8}"/>
              </a:ext>
            </a:extLst>
          </p:cNvPr>
          <p:cNvSpPr txBox="1"/>
          <p:nvPr/>
        </p:nvSpPr>
        <p:spPr>
          <a:xfrm>
            <a:off x="431540" y="1208086"/>
            <a:ext cx="4643436" cy="461665"/>
          </a:xfrm>
          <a:prstGeom prst="rect">
            <a:avLst/>
          </a:prstGeom>
          <a:noFill/>
        </p:spPr>
        <p:txBody>
          <a:bodyPr wrap="square">
            <a:spAutoFit/>
          </a:bodyPr>
          <a:lstStyle/>
          <a:p>
            <a:r>
              <a:rPr lang="en-US" sz="2400" b="1" dirty="0"/>
              <a:t>c)Scholarship Excel</a:t>
            </a:r>
          </a:p>
        </p:txBody>
      </p:sp>
      <p:pic>
        <p:nvPicPr>
          <p:cNvPr id="5" name="Picture 4">
            <a:extLst>
              <a:ext uri="{FF2B5EF4-FFF2-40B4-BE49-F238E27FC236}">
                <a16:creationId xmlns:a16="http://schemas.microsoft.com/office/drawing/2014/main" id="{3FB7BC70-6B8F-A7D1-C129-D546FDD6E3A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96072" y="1988840"/>
            <a:ext cx="5951855" cy="3022600"/>
          </a:xfrm>
          <a:prstGeom prst="rect">
            <a:avLst/>
          </a:prstGeom>
        </p:spPr>
      </p:pic>
    </p:spTree>
    <p:custDataLst>
      <p:tags r:id="rId1"/>
    </p:custDataLst>
    <p:extLst>
      <p:ext uri="{BB962C8B-B14F-4D97-AF65-F5344CB8AC3E}">
        <p14:creationId xmlns:p14="http://schemas.microsoft.com/office/powerpoint/2010/main" val="40938126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5BA9E-CA73-65B8-A598-67171BF528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942126-F6FA-A520-CA50-49DC98BCFB22}"/>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12" name="TextBox 11">
            <a:extLst>
              <a:ext uri="{FF2B5EF4-FFF2-40B4-BE49-F238E27FC236}">
                <a16:creationId xmlns:a16="http://schemas.microsoft.com/office/drawing/2014/main" id="{884EC562-38D1-4A0B-CAF0-C84E5EA5BF5A}"/>
              </a:ext>
            </a:extLst>
          </p:cNvPr>
          <p:cNvSpPr txBox="1"/>
          <p:nvPr/>
        </p:nvSpPr>
        <p:spPr>
          <a:xfrm>
            <a:off x="431540" y="1208086"/>
            <a:ext cx="4643436" cy="461665"/>
          </a:xfrm>
          <a:prstGeom prst="rect">
            <a:avLst/>
          </a:prstGeom>
          <a:noFill/>
        </p:spPr>
        <p:txBody>
          <a:bodyPr wrap="square">
            <a:spAutoFit/>
          </a:bodyPr>
          <a:lstStyle/>
          <a:p>
            <a:r>
              <a:rPr lang="en-US" sz="2400" b="1" dirty="0"/>
              <a:t>d)Internship Excel</a:t>
            </a:r>
          </a:p>
        </p:txBody>
      </p:sp>
      <p:pic>
        <p:nvPicPr>
          <p:cNvPr id="3" name="Picture 2">
            <a:extLst>
              <a:ext uri="{FF2B5EF4-FFF2-40B4-BE49-F238E27FC236}">
                <a16:creationId xmlns:a16="http://schemas.microsoft.com/office/drawing/2014/main" id="{3BE505D9-BA8B-33FD-B9F8-F57519A3EC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95636" y="1828800"/>
            <a:ext cx="6516723" cy="3200400"/>
          </a:xfrm>
          <a:prstGeom prst="rect">
            <a:avLst/>
          </a:prstGeom>
        </p:spPr>
      </p:pic>
    </p:spTree>
    <p:custDataLst>
      <p:tags r:id="rId1"/>
    </p:custDataLst>
    <p:extLst>
      <p:ext uri="{BB962C8B-B14F-4D97-AF65-F5344CB8AC3E}">
        <p14:creationId xmlns:p14="http://schemas.microsoft.com/office/powerpoint/2010/main" val="23869744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BBDDF-026A-8C15-8973-63E2EF19D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5B218A-BEA0-D92F-56D8-16BC1E964063}"/>
              </a:ext>
            </a:extLst>
          </p:cNvPr>
          <p:cNvSpPr>
            <a:spLocks noGrp="1"/>
          </p:cNvSpPr>
          <p:nvPr>
            <p:ph type="title"/>
          </p:nvPr>
        </p:nvSpPr>
        <p:spPr/>
        <p:txBody>
          <a:bodyPr>
            <a:normAutofit/>
          </a:bodyPr>
          <a:lstStyle/>
          <a:p>
            <a:r>
              <a:rPr lang="en-US" dirty="0"/>
              <a:t>Implementation</a:t>
            </a:r>
            <a:endParaRPr lang="en-IN" dirty="0">
              <a:latin typeface="+mj-lt"/>
            </a:endParaRPr>
          </a:p>
        </p:txBody>
      </p:sp>
      <p:sp>
        <p:nvSpPr>
          <p:cNvPr id="12" name="TextBox 11">
            <a:extLst>
              <a:ext uri="{FF2B5EF4-FFF2-40B4-BE49-F238E27FC236}">
                <a16:creationId xmlns:a16="http://schemas.microsoft.com/office/drawing/2014/main" id="{B1D67B4D-5E93-B7CA-4E03-1ECB9FA033D7}"/>
              </a:ext>
            </a:extLst>
          </p:cNvPr>
          <p:cNvSpPr txBox="1"/>
          <p:nvPr/>
        </p:nvSpPr>
        <p:spPr>
          <a:xfrm>
            <a:off x="431540" y="1208086"/>
            <a:ext cx="4643436" cy="461665"/>
          </a:xfrm>
          <a:prstGeom prst="rect">
            <a:avLst/>
          </a:prstGeom>
          <a:noFill/>
        </p:spPr>
        <p:txBody>
          <a:bodyPr wrap="square">
            <a:spAutoFit/>
          </a:bodyPr>
          <a:lstStyle/>
          <a:p>
            <a:r>
              <a:rPr lang="en-US" sz="2400" b="1" dirty="0"/>
              <a:t>e)Deadline Alert</a:t>
            </a:r>
          </a:p>
        </p:txBody>
      </p:sp>
      <p:pic>
        <p:nvPicPr>
          <p:cNvPr id="4" name="Picture 3">
            <a:extLst>
              <a:ext uri="{FF2B5EF4-FFF2-40B4-BE49-F238E27FC236}">
                <a16:creationId xmlns:a16="http://schemas.microsoft.com/office/drawing/2014/main" id="{2944196B-2B95-D948-1447-0481827E1DA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5696" y="1841622"/>
            <a:ext cx="3843506" cy="1332148"/>
          </a:xfrm>
          <a:prstGeom prst="rect">
            <a:avLst/>
          </a:prstGeom>
        </p:spPr>
      </p:pic>
      <p:sp>
        <p:nvSpPr>
          <p:cNvPr id="6" name="TextBox 5">
            <a:extLst>
              <a:ext uri="{FF2B5EF4-FFF2-40B4-BE49-F238E27FC236}">
                <a16:creationId xmlns:a16="http://schemas.microsoft.com/office/drawing/2014/main" id="{AE411D0C-4967-6A3C-C637-888F4A8403C0}"/>
              </a:ext>
            </a:extLst>
          </p:cNvPr>
          <p:cNvSpPr txBox="1"/>
          <p:nvPr/>
        </p:nvSpPr>
        <p:spPr>
          <a:xfrm>
            <a:off x="503548" y="3482128"/>
            <a:ext cx="4643436" cy="461665"/>
          </a:xfrm>
          <a:prstGeom prst="rect">
            <a:avLst/>
          </a:prstGeom>
          <a:noFill/>
        </p:spPr>
        <p:txBody>
          <a:bodyPr wrap="square">
            <a:spAutoFit/>
          </a:bodyPr>
          <a:lstStyle/>
          <a:p>
            <a:r>
              <a:rPr lang="en-US" sz="2400" b="1" dirty="0"/>
              <a:t>f)Deadline Alert Mail</a:t>
            </a:r>
          </a:p>
        </p:txBody>
      </p:sp>
      <p:pic>
        <p:nvPicPr>
          <p:cNvPr id="7" name="Picture 6">
            <a:extLst>
              <a:ext uri="{FF2B5EF4-FFF2-40B4-BE49-F238E27FC236}">
                <a16:creationId xmlns:a16="http://schemas.microsoft.com/office/drawing/2014/main" id="{4AA9F8E4-3C65-EA5B-5F9A-B6B078235E66}"/>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5656" y="3957299"/>
            <a:ext cx="5731510" cy="2508946"/>
          </a:xfrm>
          <a:prstGeom prst="rect">
            <a:avLst/>
          </a:prstGeom>
        </p:spPr>
      </p:pic>
    </p:spTree>
    <p:custDataLst>
      <p:tags r:id="rId1"/>
    </p:custDataLst>
    <p:extLst>
      <p:ext uri="{BB962C8B-B14F-4D97-AF65-F5344CB8AC3E}">
        <p14:creationId xmlns:p14="http://schemas.microsoft.com/office/powerpoint/2010/main" val="3339946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a:xfrm>
            <a:off x="188218" y="1345704"/>
            <a:ext cx="8763000" cy="4166592"/>
          </a:xfrm>
        </p:spPr>
        <p:txBody>
          <a:bodyPr/>
          <a:lstStyle/>
          <a:p>
            <a:pPr algn="just"/>
            <a:r>
              <a:rPr lang="en-US" dirty="0"/>
              <a:t>The </a:t>
            </a:r>
            <a:r>
              <a:rPr lang="en-US" b="1" dirty="0"/>
              <a:t>Scholarship and Internship Application Tracker</a:t>
            </a:r>
            <a:r>
              <a:rPr lang="en-US" dirty="0"/>
              <a:t> project successfully demonstrates the power of automation in streamlining the management of career opportunities, offering an efficient and error-free solution to a traditionally manual and time-intensive process. By leveraging UiPath and other automation technologies, the project achieves its core objectives of simplifying data collection, organizing information, and ensuring timely actions through robust notification mechanisms.</a:t>
            </a:r>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r>
              <a:rPr lang="en-US" dirty="0"/>
              <a:t>AI-Powered Recommendation System</a:t>
            </a:r>
          </a:p>
          <a:p>
            <a:pPr marL="0" indent="0" algn="just">
              <a:buNone/>
            </a:pPr>
            <a:r>
              <a:rPr lang="en-US" dirty="0"/>
              <a:t>	</a:t>
            </a:r>
            <a:r>
              <a:rPr lang="en-US" sz="1600" b="1" dirty="0"/>
              <a:t>Description</a:t>
            </a:r>
            <a:r>
              <a:rPr lang="en-US" sz="1600" dirty="0"/>
              <a:t>: Incorporate a machine learning model to recommend scholarships and 	internships based on the user’s academic background, skills, preferences, and application 	history. This enhancement would make the system more personalized and efficient for users.</a:t>
            </a:r>
          </a:p>
          <a:p>
            <a:r>
              <a:rPr lang="en-US" dirty="0"/>
              <a:t>Mobile Application Development</a:t>
            </a:r>
          </a:p>
          <a:p>
            <a:pPr marL="0" indent="0" algn="just">
              <a:buNone/>
            </a:pPr>
            <a:r>
              <a:rPr lang="en-US" sz="1600" b="1" dirty="0"/>
              <a:t>	Description</a:t>
            </a:r>
            <a:r>
              <a:rPr lang="en-US" sz="1600" dirty="0"/>
              <a:t>: Develop a mobile application for Android and iOS platforms, allowing users to 	access and manage their applications on the go. The app would include features like real-	time notifications, deadline tracking, and direct application submission.</a:t>
            </a:r>
          </a:p>
          <a:p>
            <a:r>
              <a:rPr lang="en-US" dirty="0"/>
              <a:t>Cloud Integration for Scalability</a:t>
            </a:r>
          </a:p>
          <a:p>
            <a:pPr marL="0" indent="0" algn="just">
              <a:buNone/>
            </a:pPr>
            <a:r>
              <a:rPr lang="en-US" sz="1600" b="1" dirty="0"/>
              <a:t>	Description</a:t>
            </a:r>
            <a:r>
              <a:rPr lang="en-US" sz="1600" dirty="0"/>
              <a:t>: Transition the system to a cloud-based infrastructure, allowing users to access 	their data from any device and location. Cloud integration would also enable easy scalability 	to handle a larger user base and additional features.</a:t>
            </a:r>
          </a:p>
          <a:p>
            <a:pPr marL="342900" marR="0" lvl="0" indent="-342900" algn="l" defTabSz="914400" rtl="0" eaLnBrk="1" fontAlgn="auto" latinLnBrk="0" hangingPunct="1">
              <a:lnSpc>
                <a:spcPct val="114000"/>
              </a:lnSpc>
              <a:spcBef>
                <a:spcPct val="20000"/>
              </a:spcBef>
              <a:spcAft>
                <a:spcPts val="0"/>
              </a:spcAft>
              <a:buClrTx/>
              <a:buSzTx/>
              <a:buFont typeface="Wingdings" panose="05000000000000000000" pitchFamily="2" charset="2"/>
              <a:buChar char="§"/>
              <a:tabLst/>
              <a:defRPr/>
            </a:pPr>
            <a:r>
              <a:rPr lang="en-US" dirty="0"/>
              <a:t>Real-Time Notifications with SMS and Push Alerts</a:t>
            </a:r>
            <a:endParaRPr kumimoji="0" lang="en-US" sz="2400" b="0" i="0" u="none" strike="noStrike" kern="1200" cap="none" spc="0" normalizeH="0" baseline="0" noProof="0" dirty="0">
              <a:ln>
                <a:noFill/>
              </a:ln>
              <a:solidFill>
                <a:prstClr val="black"/>
              </a:solidFill>
              <a:effectLst/>
              <a:uLnTx/>
              <a:uFillTx/>
              <a:latin typeface="Calibri"/>
              <a:cs typeface="Times New Roman" panose="02020603050405020304" pitchFamily="18" charset="0"/>
            </a:endParaRPr>
          </a:p>
          <a:p>
            <a:pPr marL="0" indent="0" algn="just">
              <a:buNone/>
            </a:pPr>
            <a:endParaRPr lang="en-US" sz="1600"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3" name="Content Placeholder 2"/>
          <p:cNvSpPr>
            <a:spLocks noGrp="1"/>
          </p:cNvSpPr>
          <p:nvPr>
            <p:ph idx="1"/>
          </p:nvPr>
        </p:nvSpPr>
        <p:spPr/>
        <p:txBody>
          <a:bodyPr/>
          <a:lstStyle/>
          <a:p>
            <a:pPr marL="342900" marR="925830" lvl="0" indent="-342900">
              <a:lnSpc>
                <a:spcPct val="200000"/>
              </a:lnSpc>
              <a:spcAft>
                <a:spcPts val="800"/>
              </a:spcAft>
              <a:buSzPts val="1400"/>
              <a:buFont typeface="Times New Roman" panose="02020603050405020304" pitchFamily="18" charset="0"/>
              <a:buAutoNum type="arabicPeriod"/>
              <a:tabLst>
                <a:tab pos="598805" algn="l"/>
              </a:tabLst>
            </a:pPr>
            <a:r>
              <a:rPr lang="en-IN" sz="1800" spc="-5" dirty="0">
                <a:effectLst/>
                <a:latin typeface="Calibri" panose="020F0502020204030204" pitchFamily="34" charset="0"/>
                <a:ea typeface="Times New Roman" panose="02020603050405020304" pitchFamily="18" charset="0"/>
                <a:cs typeface="Times New Roman" panose="02020603050405020304" pitchFamily="18" charset="0"/>
              </a:rPr>
              <a:t>UiPath</a:t>
            </a:r>
            <a:r>
              <a:rPr lang="en-IN" sz="1800" spc="-4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5" dirty="0">
                <a:effectLst/>
                <a:latin typeface="Calibri" panose="020F0502020204030204" pitchFamily="34" charset="0"/>
                <a:ea typeface="Times New Roman" panose="02020603050405020304" pitchFamily="18" charset="0"/>
                <a:cs typeface="Times New Roman" panose="02020603050405020304" pitchFamily="18" charset="0"/>
              </a:rPr>
              <a:t>Forum:</a:t>
            </a:r>
            <a:r>
              <a:rPr lang="en-IN" sz="1800" spc="-2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5" dirty="0">
                <a:effectLst/>
                <a:latin typeface="Calibri" panose="020F0502020204030204" pitchFamily="34" charset="0"/>
                <a:ea typeface="Times New Roman" panose="02020603050405020304" pitchFamily="18" charset="0"/>
                <a:cs typeface="Times New Roman" panose="02020603050405020304" pitchFamily="18" charset="0"/>
              </a:rPr>
              <a:t>The</a:t>
            </a:r>
            <a:r>
              <a:rPr lang="en-IN" sz="1800" spc="-7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UiPath Forum</a:t>
            </a:r>
            <a:r>
              <a:rPr lang="en-IN" sz="1800" spc="-10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community</a:t>
            </a:r>
            <a:r>
              <a:rPr lang="en-IN" sz="1800" spc="-7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where</a:t>
            </a:r>
            <a:r>
              <a:rPr lang="en-IN" sz="1800" spc="-3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users</a:t>
            </a:r>
            <a:r>
              <a:rPr lang="en-IN" sz="1800" spc="-3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share</a:t>
            </a:r>
            <a:r>
              <a:rPr lang="en-IN" sz="1800" spc="-7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their</a:t>
            </a:r>
            <a:r>
              <a:rPr lang="en-IN" sz="1800" spc="-33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experiences</a:t>
            </a:r>
            <a:r>
              <a:rPr lang="en-IN" sz="1800" spc="-10"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and</a:t>
            </a:r>
            <a:r>
              <a:rPr lang="en-IN" sz="1800" spc="1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solutions.</a:t>
            </a:r>
            <a:r>
              <a:rPr lang="en-IN" sz="1800" spc="-5"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sz="1800" u="sng" spc="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4"/>
              </a:rPr>
              <a:t>https://forum.uipath.com/</a:t>
            </a:r>
            <a:endParaRPr lang="en-US" sz="1800"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342900" marR="598170" lvl="0" indent="-342900">
              <a:lnSpc>
                <a:spcPct val="200000"/>
              </a:lnSpc>
              <a:spcBef>
                <a:spcPts val="300"/>
              </a:spcBef>
              <a:spcAft>
                <a:spcPts val="800"/>
              </a:spcAft>
              <a:buSzPts val="1400"/>
              <a:buFont typeface="Times New Roman" panose="02020603050405020304" pitchFamily="18" charset="0"/>
              <a:buAutoNum type="arabicPeriod"/>
              <a:tabLst>
                <a:tab pos="598805" algn="l"/>
              </a:tabLst>
            </a:pPr>
            <a:r>
              <a:rPr lang="en-IN" sz="1800" spc="-10" dirty="0">
                <a:effectLst/>
                <a:latin typeface="Calibri" panose="020F0502020204030204" pitchFamily="34" charset="0"/>
                <a:ea typeface="Times New Roman" panose="02020603050405020304" pitchFamily="18" charset="0"/>
                <a:cs typeface="Times New Roman" panose="02020603050405020304" pitchFamily="18" charset="0"/>
              </a:rPr>
              <a:t>UiPath </a:t>
            </a:r>
            <a:r>
              <a:rPr lang="en-IN" sz="1800" spc="-5" dirty="0">
                <a:effectLst/>
                <a:latin typeface="Calibri" panose="020F0502020204030204" pitchFamily="34" charset="0"/>
                <a:ea typeface="Times New Roman" panose="02020603050405020304" pitchFamily="18" charset="0"/>
                <a:cs typeface="Times New Roman" panose="02020603050405020304" pitchFamily="18" charset="0"/>
              </a:rPr>
              <a:t>Documentation: The official documentation of UiPath features and</a:t>
            </a:r>
            <a:r>
              <a:rPr lang="en-IN" sz="1800" spc="-335" dirty="0">
                <a:effectLst/>
                <a:latin typeface="Calibri" panose="020F0502020204030204" pitchFamily="34" charset="0"/>
                <a:ea typeface="Times New Roman" panose="02020603050405020304" pitchFamily="18" charset="0"/>
                <a:cs typeface="Times New Roman" panose="02020603050405020304" pitchFamily="18" charset="0"/>
              </a:rPr>
              <a:t> </a:t>
            </a:r>
            <a:r>
              <a:rPr lang="en-IN" sz="1800" spc="0" dirty="0">
                <a:effectLst/>
                <a:latin typeface="Calibri" panose="020F0502020204030204" pitchFamily="34" charset="0"/>
                <a:ea typeface="Times New Roman" panose="02020603050405020304" pitchFamily="18" charset="0"/>
                <a:cs typeface="Times New Roman" panose="02020603050405020304" pitchFamily="18" charset="0"/>
              </a:rPr>
              <a:t>functionalities</a:t>
            </a:r>
            <a:r>
              <a:rPr lang="en-IN" sz="1800" spc="15"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rPr>
              <a:t> </a:t>
            </a:r>
            <a:r>
              <a:rPr lang="en-IN" sz="1800" u="sng" spc="0" dirty="0">
                <a:solidFill>
                  <a:srgbClr val="0000FF"/>
                </a:solidFill>
                <a:effectLst/>
                <a:latin typeface="Calibri" panose="020F0502020204030204" pitchFamily="34" charset="0"/>
                <a:ea typeface="Times New Roman" panose="02020603050405020304" pitchFamily="18" charset="0"/>
                <a:cs typeface="Times New Roman" panose="02020603050405020304" pitchFamily="18" charset="0"/>
                <a:hlinkClick r:id="rId5"/>
              </a:rPr>
              <a:t>https://docs.uipath.com/</a:t>
            </a:r>
            <a:endParaRPr lang="en-US" sz="1800" spc="0" dirty="0">
              <a:effectLst/>
              <a:latin typeface="Calibri" panose="020F0502020204030204" pitchFamily="34" charset="0"/>
              <a:ea typeface="Times New Roman" panose="02020603050405020304" pitchFamily="18" charset="0"/>
              <a:cs typeface="Times New Roman" panose="02020603050405020304" pitchFamily="18" charset="0"/>
            </a:endParaRPr>
          </a:p>
          <a:p>
            <a:pPr marL="0" indent="0">
              <a:buNone/>
            </a:pPr>
            <a:endParaRPr lang="en-US" dirty="0"/>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9476</TotalTime>
  <Words>845</Words>
  <Application>Microsoft Office PowerPoint</Application>
  <PresentationFormat>On-screen Show (4:3)</PresentationFormat>
  <Paragraphs>108</Paragraphs>
  <Slides>19</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Arial</vt:lpstr>
      <vt:lpstr>Calibri</vt:lpstr>
      <vt:lpstr>Open Sans Bold</vt:lpstr>
      <vt:lpstr>Open Sans Extrabold</vt:lpstr>
      <vt:lpstr>Open Sans Light</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Software System Requirements</vt:lpstr>
      <vt:lpstr>Entity Relationship Design</vt:lpstr>
      <vt:lpstr>Process Design</vt:lpstr>
      <vt:lpstr>Implementation</vt:lpstr>
      <vt:lpstr>Implementation</vt:lpstr>
      <vt:lpstr>Implementation</vt:lpstr>
      <vt:lpstr>Implementation</vt:lpstr>
      <vt:lpstr>Implementation</vt:lpstr>
      <vt:lpstr>Conclusions</vt:lpstr>
      <vt:lpstr>Future Enhancement</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 K</dc:creator>
  <cp:lastModifiedBy>R K</cp:lastModifiedBy>
  <cp:revision>1743</cp:revision>
  <dcterms:created xsi:type="dcterms:W3CDTF">2013-05-17T03:00:03Z</dcterms:created>
  <dcterms:modified xsi:type="dcterms:W3CDTF">2024-11-21T17:48:27Z</dcterms:modified>
</cp:coreProperties>
</file>